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a2d6fc4ee34939" /><Relationship Type="http://schemas.openxmlformats.org/officeDocument/2006/relationships/extended-properties" Target="/docProps/app.xml" Id="R3c5327560e01430c" /><Relationship Type="http://schemas.openxmlformats.org/officeDocument/2006/relationships/officeDocument" Target="/ppt/presentation.xml" Id="Rf61366456777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9f8ea739b54246"/>
  </p:sldMasterIdLst>
  <p:notesMasterIdLst>
    <p:notesMasterId xmlns:r="http://schemas.openxmlformats.org/officeDocument/2006/relationships" r:id="Rcf0520af937441eb"/>
  </p:notesMasterIdLst>
  <p:sldIdLst>
    <p:sldId xmlns:r="http://schemas.openxmlformats.org/officeDocument/2006/relationships" id="256" r:id="Rfdc9a39db9874f39"/>
    <p:sldId xmlns:r="http://schemas.openxmlformats.org/officeDocument/2006/relationships" id="257" r:id="R5eb19e7889bb42b6"/>
    <p:sldId xmlns:r="http://schemas.openxmlformats.org/officeDocument/2006/relationships" id="258" r:id="R70beda4190784c4a"/>
    <p:sldId xmlns:r="http://schemas.openxmlformats.org/officeDocument/2006/relationships" id="259" r:id="R714996ea9c7640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40a99b906437c" /><Relationship Type="http://schemas.openxmlformats.org/officeDocument/2006/relationships/slideMaster" Target="/ppt/slideMasters/slideMaster1.xml" Id="Re09f8ea739b54246" /><Relationship Type="http://schemas.openxmlformats.org/officeDocument/2006/relationships/notesMaster" Target="/ppt/notesMasters/notesMaster1.xml" Id="Rcf0520af937441eb" /><Relationship Type="http://schemas.openxmlformats.org/officeDocument/2006/relationships/presProps" Target="/ppt/presProps.xml" Id="Rf53a26cb91ee4585" /><Relationship Type="http://schemas.openxmlformats.org/officeDocument/2006/relationships/tableStyles" Target="/ppt/tableStyles.xml" Id="R7a8fea9056674a2f" /><Relationship Type="http://schemas.openxmlformats.org/officeDocument/2006/relationships/slide" Target="/ppt/slides/slide1.xml" Id="Rfdc9a39db9874f39" /><Relationship Type="http://schemas.openxmlformats.org/officeDocument/2006/relationships/slide" Target="/ppt/slides/slide2.xml" Id="R5eb19e7889bb42b6" /><Relationship Type="http://schemas.openxmlformats.org/officeDocument/2006/relationships/slide" Target="/ppt/slides/slide3.xml" Id="R70beda4190784c4a" /><Relationship Type="http://schemas.openxmlformats.org/officeDocument/2006/relationships/slide" Target="/ppt/slides/slide4.xml" Id="R714996ea9c7640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d4b7d30dd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164f15afd4fb0" /><Relationship Type="http://schemas.openxmlformats.org/officeDocument/2006/relationships/notesMaster" Target="/ppt/notesMasters/notesMaster1.xml" Id="R14714ef381a043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9360510d554269" /><Relationship Type="http://schemas.openxmlformats.org/officeDocument/2006/relationships/notesMaster" Target="/ppt/notesMasters/notesMaster1.xml" Id="R6e8114f5044b4b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0f5574dab64c62" /><Relationship Type="http://schemas.openxmlformats.org/officeDocument/2006/relationships/notesMaster" Target="/ppt/notesMasters/notesMaster1.xml" Id="R55f5455cdecf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b3798744b4908" /><Relationship Type="http://schemas.openxmlformats.org/officeDocument/2006/relationships/notesMaster" Target="/ppt/notesMasters/notesMaster1.xml" Id="R7dc13a9d8b5e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docs/architecture/overview.md (accessed 2026-09-02)</a:t>
            </a:r>
          </a:p>
          <a:p xmlns:a="http://schemas.openxmlformats.org/drawingml/2006/main">
            <a:r>
              <a:t>- Repository: web_app/README.md (accessed 2026-09-02)</a:t>
            </a:r>
          </a:p>
          <a:p xmlns:a="http://schemas.openxmlformats.org/drawingml/2006/main">
            <a:r>
              <a:t>- Repository: mcp_server/README.md (accessed 2026-09-02)</a:t>
            </a:r>
          </a:p>
          <a:p xmlns:a="http://schemas.openxmlformats.org/drawingml/2006/main">
            <a:r>
              <a:t>- Repository: databricks_notebooks/README.md (accessed 2026-09-02)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docs/security.md (accessed 2026-09-02)</a:t>
            </a:r>
          </a:p>
          <a:p xmlns:a="http://schemas.openxmlformats.org/drawingml/2006/main">
            <a:r>
              <a:t>- Repository: docs/architecture/database.md (accessed 2026-09-02)</a:t>
            </a:r>
          </a:p>
          <a:p xmlns:a="http://schemas.openxmlformats.org/drawingml/2006/main">
            <a:r>
              <a:t>- Repository: web_app/backend/gds_workbench_api/main.py (accessed 2026-09-02)</a:t>
            </a:r>
          </a:p>
          <a:p xmlns:a="http://schemas.openxmlformats.org/drawingml/2006/main">
            <a:r>
              <a:t>- Repository: web_app/backend/gds_workbench_api/workflow_worker.py (accessed 2026-09-02)</a:t>
            </a:r>
          </a:p>
          <a:p xmlns:a="http://schemas.openxmlformats.org/drawingml/2006/main">
            <a:r>
              <a:t>- Repository: mcp_server/gds_etl_workbench/adapters/mcp/server.py (accessed 2026-09-02)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web_app/backend/gds_workbench_api/features/workflows/execution/assembly.py (accessed 2026-09-02)</a:t>
            </a:r>
          </a:p>
          <a:p xmlns:a="http://schemas.openxmlformats.org/drawingml/2006/main">
            <a:r>
              <a:t>- Repository: web_app/backend/gds_workbench_api/features/workflows/execution/dispatcher.py (accessed 2026-09-02)</a:t>
            </a:r>
          </a:p>
          <a:p xmlns:a="http://schemas.openxmlformats.org/drawingml/2006/main">
            <a:r>
              <a:t>- Repository: web_app/backend/gds_workbench_api/integrations/agents/adapters.py (accessed 2026-09-02)</a:t>
            </a:r>
          </a:p>
          <a:p xmlns:a="http://schemas.openxmlformats.org/drawingml/2006/main">
            <a:r>
              <a:t>- Repository: CONTEXT.md (accessed 2026-09-02)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docs/architecture/overview.md (accessed 2026-09-02)</a:t>
            </a:r>
          </a:p>
          <a:p xmlns:a="http://schemas.openxmlformats.org/drawingml/2006/main">
            <a:r>
              <a:t>- Repository: CONTEXT.md (accessed 2026-09-02)</a:t>
            </a:r>
          </a:p>
          <a:p xmlns:a="http://schemas.openxmlformats.org/drawingml/2006/main">
            <a:r>
              <a:t>- Repository: web_app/README.md (accessed 2026-09-02)</a:t>
            </a:r>
          </a:p>
          <a:p xmlns:a="http://schemas.openxmlformats.org/drawingml/2006/main">
            <a:r>
              <a:t>- Repository: web_app/DEPLOYMENT_GUIDE.md (accessed 2026-09-02)</a:t>
            </a:r>
          </a:p>
          <a:p xmlns:a="http://schemas.openxmlformats.org/drawingml/2006/main">
            <a:r>
              <a:t>- Repository: web_app/backend/gds_workbench_api/config/agent_capabilities.json (accessed 2026-09-02)</a:t>
            </a:r>
          </a:p>
          <a:p xmlns:a="http://schemas.openxmlformats.org/drawingml/2006/main">
            <a:r>
              <a:t>- Visual reference: user-provided conceptual architecture screenshot (accessed 2026-09-02)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0b0b11b81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41fccc550141d1" /><Relationship Type="http://schemas.openxmlformats.org/officeDocument/2006/relationships/slideLayout" Target="/ppt/slideLayouts/slideLayout1.xml" Id="R68075186873c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075186873c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73470ce534869" /><Relationship Type="http://schemas.openxmlformats.org/officeDocument/2006/relationships/notesSlide" Target="/ppt/notesSlides/notesSlide1.xml" Id="R24f017b41d48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4c66c008c4b4a" /><Relationship Type="http://schemas.openxmlformats.org/officeDocument/2006/relationships/notesSlide" Target="/ppt/notesSlides/notesSlide2.xml" Id="R17911096b9484a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cbaa4478143e8" /><Relationship Type="http://schemas.openxmlformats.org/officeDocument/2006/relationships/notesSlide" Target="/ppt/notesSlides/notesSlide3.xml" Id="Rb9c33dbb1e1f43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1d715407b4310" /><Relationship Type="http://schemas.openxmlformats.org/officeDocument/2006/relationships/notesSlide" Target="/ppt/notesSlides/notesSlide4.xml" Id="R384d7f8ce7674b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1">
            <a:extLst xmlns:a="http://schemas.openxmlformats.org/drawingml/2006/main">
              <a:ext uri="{FF2B5EF4-FFF2-40B4-BE49-F238E27FC236}">
                <a16:creationId xmlns:a16="http://schemas.microsoft.com/office/drawing/2014/main" id="{88445D7C-06AE-4E9A-9C92-C75412F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GDS WORKBENCH • CURRENT STATE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8660AD7-B50D-4860-95A9-039E127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Three authoring paths, one governed system of record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F774FD6C-3DDD-47E9-ACB2-255A324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Different user experiences; the same Tenant, Model, revision, and Apply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3B652-2338-4064-81A1-473DE1E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DEVELOPER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59574-5C6E-4FC4-AC50-BD1DE2D9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VS Code + Agent Plugin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69FB-0F52-46BC-9B2A-DD1FD16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3C6DE-A592-440A-9885-42A50D6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991D5-A1F8-48E7-9E45-F72DD31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Stateless MCP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49CAA-DEDD-41E6-B7DB-5065318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Azure App Service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35 focused tools + local Workbench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FA9B-5169-48EE-B8FE-92615EC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671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0112-3AD7-4521-B1F5-EA358CDC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GUIDED WEB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29DFB-97A0-44D2-B0B4-53335E3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Databricks browser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34375-0E10-4AE3-8EE0-2CC8E6F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2D6F-51FA-4C10-972B-954A295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1F76F-1C1A-4523-918F-73A1363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React + 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F9920-7BD2-4E7B-B094-95C2A00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Embedded durable workflow worker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Direct agent model provider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16C35-E718-45E7-ADEF-6931124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671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DA8A3-C303-4C7B-959E-497172B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NOTEBOOK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CD893-282B-4D6D-9AE6-C12F3B8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Databricks operator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E37BB-C40A-44FD-A364-E26C66A8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D831-E39D-42BE-B867-FC8D278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D5B32-B337-435C-88A9-3256843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Workflow notebooks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A6BC7-F280-4826-990C-E2BB522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In-process shared workflow runtime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No MCP or web API dependency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B064A-D63F-44AF-B879-13D67468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671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4419F-330A-453E-A949-4625959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6299F-6241-49AE-A3F8-DFC6CAB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2437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rPr>
              <a:t>SERVER-SIDE GOVERNANCE   •   Principal + Tenant authorization   •   Tenant Lock   •   revision fences   •   idempotency   •  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228A2-E5CA-4A51-ABB5-BAB409D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76800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CE736-7BCD-4614-B894-AF07C58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33975"/>
            <a:ext cx="88392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86A57-31C8-4B2F-B1DE-CD322967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Governed PostgreSQL 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D78F6-E888-4814-A6AE-D4DCA14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05475"/>
            <a:ext cx="826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Metadata + Model graph   •   Workflow Runs + Change Sets   •   locks, revisions + retained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484BF-157A-46B1-BB6D-A61BCBD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1D8F791-5B1E-4199-966A-11F561D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GDS Workbench • current repository architecture</a:t>
            </a:r>
          </a:p>
        </p:txBody>
      </p:sp>
      <p:sp>
        <p:nvSpPr>
          <p:cNvPr id="33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712BA34F-4108-48FA-A908-26CF6322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5252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2">
            <a:extLst xmlns:a="http://schemas.openxmlformats.org/drawingml/2006/main">
              <a:ext uri="{FF2B5EF4-FFF2-40B4-BE49-F238E27FC236}">
                <a16:creationId xmlns:a16="http://schemas.microsoft.com/office/drawing/2014/main" id="{F4469921-ECD8-47F9-A205-B2F480E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COMPONENT VIEW • CURRENT STATE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27B2CE6-5C37-4ED3-BC4A-B21F511F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PostgreSQL owns the durable boundary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9BE34845-2735-4E6B-A045-04122B17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Python services coordinate requests, providers, workers, and handoffs; database functions authorize and commit.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512BF-A0EC-4606-A298-1C578F1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147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B6E16-D743-46AD-8F8D-41C55D2E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73A05-24CD-460F-9273-1CCD5949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31FF3-9EA8-4417-B4EF-F64A9D51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147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A4E1F-CB55-402B-B59A-A07829BC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01 •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7DF71-E295-4142-9CE9-E31C3DB5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C52EF-AFE9-4BF8-B3C0-D222DE4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4315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User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CD01D-A621-4F57-AD27-5B6497BE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813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48CACB-2BAF-4FA3-B9E2-4FEA4D88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81350"/>
            <a:ext cx="12001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76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VS Code plugin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React SPA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Databricks notebooks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3E953-A58D-49CB-A0D3-CF83668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335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02 • ADAPTERS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45A5D-A9F2-4100-B06E-F81B6BB1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95500"/>
            <a:ext cx="17716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3F108-2C7B-48A0-9D4E-9CA2913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431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Protocol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DC97C-2EE7-4521-BE62-69026CB8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813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C8153-960A-4424-B5BD-A9FCC42D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181350"/>
            <a:ext cx="14478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Streamable HTTP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FastAPI REST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Notebook runner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AB745-45FF-4660-9DA8-AF9275B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3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03 • APPLICATION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0A003-40E9-461F-ACD7-C7D182D9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2857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7E691-25CC-45D7-98F1-D6E7F753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2533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Workflow coordination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2F9E2-8CA4-431D-851B-11605052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649D7-8CB3-4F8E-942D-AD9D73B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2533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Bounded reads + Snapshots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Authoring services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Durable dispatcher + lease worker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Stage, validate + Apply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C7267-53CE-4CF8-8FC2-51A1262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335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04 •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EF43B-FD0F-47AB-B049-E0E754C8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7907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5F6E4-550C-4DE1-B6E6-FDD4ACEC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431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External I/O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265B8-8088-4F5D-8665-475F136A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81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ED287-CCB0-474D-A092-FCDE1C98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81350"/>
            <a:ext cx="14668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Agent model provider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Databricks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Private Blob snapshots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9E7C9-5490-49FF-A0E0-B470BE14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05 • POSTGRESQL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A1A830-1B2B-4803-9CAB-2F96F4B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20383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98691-03C5-475D-AA4F-D551191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431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Authoritative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FD3329-BB15-428A-AF56-260727E1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98132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3FFE74-B2DF-4140-B96B-E33F26E5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81350"/>
            <a:ext cx="17145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Security + Tenant Locks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Metadata + Model revisions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Runs, drafts + Change Sets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Receipts, events + redacted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CCA666-5159-4A90-9008-33496446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4D341E-5E63-4AAF-9361-3D99D04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rPr>
              <a:t>Database authority in every write transaction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0FD81-75B6-4B31-BFF2-1D7C5E13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64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actor  •  Tenant / Model ownership  •  role / tool policy  •  Tenant Lock  •  revision  •  idempotency + digest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FAA3D-6051-4DAC-88FE-E02F1B66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Least-privilege runtime roles; no runtime DDL or unrestricted table mutation.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A64F7-5A88-47BD-A875-7E7896D8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1941CD46-ED0F-460D-A6BE-D07EBD0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GDS Workbench • current repository architecture</a:t>
            </a:r>
          </a:p>
        </p:txBody>
      </p:sp>
      <p:sp>
        <p:nvSpPr>
          <p:cNvPr id="39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3E7D1BA8-1983-4475-83D4-432C5AD8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33686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1">
            <a:extLst xmlns:a="http://schemas.openxmlformats.org/drawingml/2006/main">
              <a:ext uri="{FF2B5EF4-FFF2-40B4-BE49-F238E27FC236}">
                <a16:creationId xmlns:a16="http://schemas.microsoft.com/office/drawing/2014/main" id="{88445D7C-06AE-4E9A-9C92-C75412F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AGENT ARCHITECTURE • CURRENT STATE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8660AD7-B50D-4860-95A9-039E127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agent router coordinates seven specialist workflows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F774FD6C-3DDD-47E9-ACB2-255A324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Governed context enters once; validated Candidates leave through one controlled persistence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3B652-2338-4064-81A1-473DE1E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01 •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59574-5C6E-4FC4-AC50-BD1DE2D9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Governed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69FB-0F52-46BC-9B2A-DD1FD16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3C6DE-A592-440A-9885-42A50D6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991D5-A1F8-48E7-9E45-F72DD316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Context assembly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49CAA-DEDD-41E6-B7DB-5065318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Snapshot + applied Model state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Scope, policy + Assertions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FA9B-5169-48EE-B8FE-92615EC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67175" y="31146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0112-3AD7-4521-B1F5-EA358CDC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02 •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29DFB-97A0-44D2-B0B4-53335E3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Shared execution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34375-0E10-4AE3-8EE0-2CC8E6F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2D6F-51FA-4C10-972B-954A295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1F76F-1C1A-4523-918F-73A1363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AgentExecutionRouter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F9920-7BD2-4E7B-B094-95C2A000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Capability profile → SDK → provider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Per-run tools + bounded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16C35-E718-45E7-ADEF-6931124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915275" y="31146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DA8A3-C303-4C7B-959E-497172B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33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03 • SPECIALISTS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CD893-282B-4D6D-9AE6-C12F3B8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90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Seven workflow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E37BB-C40A-44FD-A364-E26C66A8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D831-E39D-42BE-B867-FC8D278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857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D5B32-B337-435C-88A9-3256843A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Authoring executors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A6BC7-F280-4826-990C-E2BB522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Analysis • Conceptual • Logical • Dimensional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Mapping • Code •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B064A-D63F-44AF-B879-13D67468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67175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4419F-330A-453E-A949-4625959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11125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6299F-6241-49AE-A3F8-DFC6CAB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2437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rPr>
              <a:t>BACKEND VALIDATION   •   schema checks   •   progress + events   •   Candidate digest   •   lifecycle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228A2-E5CA-4A51-ABB5-BAB409D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76800"/>
            <a:ext cx="2095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CE736-7BCD-4614-B894-AF07C58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33975"/>
            <a:ext cx="88392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F86A57-31C8-4B2F-B1DE-CD322967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95900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Governed PostgreSQL 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2D78F6-E888-4814-A6AE-D4DCA149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05475"/>
            <a:ext cx="826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Candidate → Model Change Set → user review → explicit Apply → revision +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484BF-157A-46B1-BB6D-A61BCBD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1D8F791-5B1E-4199-966A-11F561D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GDS Workbench • current repository architecture</a:t>
            </a:r>
          </a:p>
        </p:txBody>
      </p:sp>
      <p:sp>
        <p:nvSpPr>
          <p:cNvPr id="33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712BA34F-4108-48FA-A908-26CF6322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252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1">
            <a:extLst xmlns:a="http://schemas.openxmlformats.org/drawingml/2006/main">
              <a:ext uri="{FF2B5EF4-FFF2-40B4-BE49-F238E27FC236}">
                <a16:creationId xmlns:a16="http://schemas.microsoft.com/office/drawing/2014/main" id="{88445D7C-06AE-4E9A-9C92-C75412FA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CONCEPTUAL ARCHITECTURE • CURRENT STATE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C8660AD7-B50D-4860-95A9-039E1277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architecture connects every authoring path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F774FD6C-3DDD-47E9-ACB2-255A324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Users enter through VS Code, the web app, or notebooks; shared contracts govern agents, data, and Apply.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3B652-2338-4064-81A1-473DE1EF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01 • USER &amp; CHANNEL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69FB-0F52-46BC-9B2A-DD1FD163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85750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3C6DE-A592-440A-9885-42A50D6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762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2FA9B-5169-48EE-B8FE-92615EC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638675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0112-3AD7-4521-B1F5-EA358CDC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335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02 • APPLICATION &amp; WORKFLOW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34375-0E10-4AE3-8EE0-2CC8E6F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19300"/>
            <a:ext cx="438150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42D6F-51FA-4C10-972B-954A295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19300"/>
            <a:ext cx="762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16C35-E718-45E7-ADEF-69311248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38675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DA8A3-C303-4C7B-959E-497172B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03 • AI &amp; DATA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E37BB-C40A-44FD-A364-E26C66A8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320040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7C0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2D831-E39D-42BE-B867-FC8D2786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762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B064A-D63F-44AF-B879-13D67468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638675"/>
            <a:ext cx="17145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23A5A"/>
          </a:solidFill>
          <a:ln xmlns:a="http://schemas.openxmlformats.org/drawingml/2006/main" w="0">
            <a:solidFill>
              <a:srgbClr val="123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4419F-330A-453E-A949-4625959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2025"/>
            <a:ext cx="11125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B6299F-6241-49AE-A3F8-DFC6CAB5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6727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23A5A"/>
                </a:solidFill>
                <a:latin typeface="Helvetica Neue"/>
                <a:ea typeface="Helvetica Neue"/>
                <a:cs typeface="Helvetica Neue"/>
              </a:rPr>
              <a:t>GOVERNANCE + SYSTEM OF RECORD   •   identity   •   Tenant Lock   •   revisions   •   validation   •  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228A2-E5CA-4A51-ABB5-BAB409D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162550"/>
            <a:ext cx="1714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4CE736-7BCD-4614-B894-AF07C58C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112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  <p:txBody>
          <a:bodyPr xmlns:a="http://schemas.openxmlformats.org/drawingml/2006/main" lIns="285750" tIns="95250" rIns="28575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4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Governed PostgreSQL 18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Snapshots   •   Workflow Runs   •   Candidates   •   Metadata / Model Change Sets   •   revisions   •   receipts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8484BF-157A-46B1-BB6D-A61BCBD1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1D8F791-5B1E-4199-966A-11F561DB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GDS Workbench • current repository architecture</a:t>
            </a:r>
          </a:p>
        </p:txBody>
      </p:sp>
      <p:sp>
        <p:nvSpPr>
          <p:cNvPr id="33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712BA34F-4108-48FA-A908-26CF6322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5" name="flow-channels-to-application">
            <a:extLst xmlns:a="http://schemas.openxmlformats.org/drawingml/2006/main">
              <a:ext uri="{FF2B5EF4-FFF2-40B4-BE49-F238E27FC236}">
                <a16:creationId xmlns:a16="http://schemas.microsoft.com/office/drawing/2014/main" id="{63590EBF-21B5-4819-A715-D0ABF9E5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low-router-to-models">
            <a:extLst xmlns:a="http://schemas.openxmlformats.org/drawingml/2006/main">
              <a:ext uri="{FF2B5EF4-FFF2-40B4-BE49-F238E27FC236}">
                <a16:creationId xmlns:a16="http://schemas.microsoft.com/office/drawing/2014/main" id="{C718B68A-9A75-4E60-B3BB-45F1410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low-workflows-to-data">
            <a:extLst xmlns:a="http://schemas.openxmlformats.org/drawingml/2006/main">
              <a:ext uri="{FF2B5EF4-FFF2-40B4-BE49-F238E27FC236}">
                <a16:creationId xmlns:a16="http://schemas.microsoft.com/office/drawing/2014/main" id="{E298FC35-431C-4A57-8855-0FD275A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low-mcp-to-workflow">
            <a:extLst xmlns:a="http://schemas.openxmlformats.org/drawingml/2006/main">
              <a:ext uri="{FF2B5EF4-FFF2-40B4-BE49-F238E27FC236}">
                <a16:creationId xmlns:a16="http://schemas.microsoft.com/office/drawing/2014/main" id="{0BB14D60-9109-4A37-BAF5-D306D8CE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1333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web-to-workflow">
            <a:extLst xmlns:a="http://schemas.openxmlformats.org/drawingml/2006/main">
              <a:ext uri="{FF2B5EF4-FFF2-40B4-BE49-F238E27FC236}">
                <a16:creationId xmlns:a16="http://schemas.microsoft.com/office/drawing/2014/main" id="{9F451E63-AA5D-4622-A41B-12933DFB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1333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2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low-notebook-to-workflow">
            <a:extLst xmlns:a="http://schemas.openxmlformats.org/drawingml/2006/main">
              <a:ext uri="{FF2B5EF4-FFF2-40B4-BE49-F238E27FC236}">
                <a16:creationId xmlns:a16="http://schemas.microsoft.com/office/drawing/2014/main" id="{C51A0DE1-EF1C-43C8-8784-7BE909CC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14625"/>
            <a:ext cx="1333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3F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low-workflow-to-router">
            <a:extLst xmlns:a="http://schemas.openxmlformats.org/drawingml/2006/main">
              <a:ext uri="{FF2B5EF4-FFF2-40B4-BE49-F238E27FC236}">
                <a16:creationId xmlns:a16="http://schemas.microsoft.com/office/drawing/2014/main" id="{3525529B-1498-48D9-8340-F6682D8D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76600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low-router-to-agents">
            <a:extLst xmlns:a="http://schemas.openxmlformats.org/drawingml/2006/main">
              <a:ext uri="{FF2B5EF4-FFF2-40B4-BE49-F238E27FC236}">
                <a16:creationId xmlns:a16="http://schemas.microsoft.com/office/drawing/2014/main" id="{B29B390D-4C0A-478D-8901-3747F695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00475"/>
            <a:ext cx="13335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annel-vscode">
            <a:extLst xmlns:a="http://schemas.openxmlformats.org/drawingml/2006/main">
              <a:ext uri="{FF2B5EF4-FFF2-40B4-BE49-F238E27FC236}">
                <a16:creationId xmlns:a16="http://schemas.microsoft.com/office/drawing/2014/main" id="{D85B5888-2C12-4DAB-A6A3-EC65D19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4384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Developer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VS Code Agent Plugin</a:t>
            </a:r>
          </a:p>
        </p:txBody>
      </p:sp>
      <p:sp>
        <p:nvSpPr>
          <p:cNvPr id="44" name="channel-web">
            <a:extLst xmlns:a="http://schemas.openxmlformats.org/drawingml/2006/main">
              <a:ext uri="{FF2B5EF4-FFF2-40B4-BE49-F238E27FC236}">
                <a16:creationId xmlns:a16="http://schemas.microsoft.com/office/drawing/2014/main" id="{FEEB0147-9B5B-41B8-83D6-E9DF1FD9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4384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62C6EA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Web user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React web application</a:t>
            </a:r>
          </a:p>
        </p:txBody>
      </p:sp>
      <p:sp>
        <p:nvSpPr>
          <p:cNvPr id="45" name="channel-notebook">
            <a:extLst xmlns:a="http://schemas.openxmlformats.org/drawingml/2006/main">
              <a:ext uri="{FF2B5EF4-FFF2-40B4-BE49-F238E27FC236}">
                <a16:creationId xmlns:a16="http://schemas.microsoft.com/office/drawing/2014/main" id="{ABED256C-3F7C-41D0-BD36-67C45224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24384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63F5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Data operator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Databricks notebooks</a:t>
            </a:r>
          </a:p>
        </p:txBody>
      </p:sp>
      <p:sp>
        <p:nvSpPr>
          <p:cNvPr id="46" name="service-mcp">
            <a:extLst xmlns:a="http://schemas.openxmlformats.org/drawingml/2006/main">
              <a:ext uri="{FF2B5EF4-FFF2-40B4-BE49-F238E27FC236}">
                <a16:creationId xmlns:a16="http://schemas.microsoft.com/office/drawing/2014/main" id="{F789269E-DC5C-47F2-9C57-0D10F511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2573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96563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MCP server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Azure App Service</a:t>
            </a:r>
          </a:p>
        </p:txBody>
      </p:sp>
      <p:sp>
        <p:nvSpPr>
          <p:cNvPr id="47" name="service-web">
            <a:extLst xmlns:a="http://schemas.openxmlformats.org/drawingml/2006/main">
              <a:ext uri="{FF2B5EF4-FFF2-40B4-BE49-F238E27FC236}">
                <a16:creationId xmlns:a16="http://schemas.microsoft.com/office/drawing/2014/main" id="{DBFCF7D0-B7C5-4D33-803D-C136465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2573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62C6EA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98375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FastAPI + worker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Databricks App</a:t>
            </a:r>
          </a:p>
        </p:txBody>
      </p:sp>
      <p:sp>
        <p:nvSpPr>
          <p:cNvPr id="48" name="service-notebook">
            <a:extLst xmlns:a="http://schemas.openxmlformats.org/drawingml/2006/main">
              <a:ext uri="{FF2B5EF4-FFF2-40B4-BE49-F238E27FC236}">
                <a16:creationId xmlns:a16="http://schemas.microsoft.com/office/drawing/2014/main" id="{8E861B2D-EBE7-4CDB-825A-FA3D1CB1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12573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63F5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93261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Notebook runtime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863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in-process</a:t>
            </a:r>
          </a:p>
        </p:txBody>
      </p:sp>
      <p:sp>
        <p:nvSpPr>
          <p:cNvPr id="49" name="workflow-coordinator">
            <a:extLst xmlns:a="http://schemas.openxmlformats.org/drawingml/2006/main">
              <a:ext uri="{FF2B5EF4-FFF2-40B4-BE49-F238E27FC236}">
                <a16:creationId xmlns:a16="http://schemas.microsoft.com/office/drawing/2014/main" id="{F0451E0B-6604-4725-98B6-CE89003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4019550" cy="4000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1906">
            <a:solidFill>
              <a:srgbClr val="B7C0CB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Workflow coordinator  •  durable Workflow Runs</a:t>
            </a:r>
          </a:p>
        </p:txBody>
      </p:sp>
      <p:sp>
        <p:nvSpPr>
          <p:cNvPr id="50" name="agent-router">
            <a:extLst xmlns:a="http://schemas.openxmlformats.org/drawingml/2006/main">
              <a:ext uri="{FF2B5EF4-FFF2-40B4-BE49-F238E27FC236}">
                <a16:creationId xmlns:a16="http://schemas.microsoft.com/office/drawing/2014/main" id="{BC15829B-2B15-4504-BAA8-D8714883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0425"/>
            <a:ext cx="40195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4F4FC"/>
          </a:solidFill>
          <a:ln xmlns:a="http://schemas.openxmlformats.org/drawingml/2006/main" w="11906">
            <a:solidFill>
              <a:srgbClr val="62C6EA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3F5F"/>
                </a:solidFill>
                <a:latin typeface="Helvetica Neue"/>
                <a:ea typeface="Helvetica Neue"/>
                <a:cs typeface="Helvetica Neue"/>
              </a:rPr>
              <a:t>AgentExecutionRouter</a:t>
            </a:r>
          </a:p>
        </p:txBody>
      </p:sp>
      <p:sp>
        <p:nvSpPr>
          <p:cNvPr id="51" name="specialist-agents">
            <a:extLst xmlns:a="http://schemas.openxmlformats.org/drawingml/2006/main">
              <a:ext uri="{FF2B5EF4-FFF2-40B4-BE49-F238E27FC236}">
                <a16:creationId xmlns:a16="http://schemas.microsoft.com/office/drawing/2014/main" id="{C8040DDF-3D6E-44EF-BAE3-FE70B29B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4019550" cy="571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3F5F"/>
          </a:solidFill>
          <a:ln xmlns:a="http://schemas.openxmlformats.org/drawingml/2006/main" w="11906">
            <a:solidFill>
              <a:srgbClr val="163F5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88931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Seven specialist agents</a:t>
            </a:r>
          </a:p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Analysis • Conceptual • Logical • Dimensional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38" b="0">
                <a:solidFill>
                  <a:srgbClr val="D7DCE2"/>
                </a:solidFill>
                <a:latin typeface="Helvetica Neue"/>
                <a:ea typeface="Helvetica Neue"/>
                <a:cs typeface="Helvetica Neue"/>
              </a:rPr>
              <a:t>Mapping • Code • Validation</a:t>
            </a:r>
          </a:p>
        </p:txBody>
      </p:sp>
      <p:sp>
        <p:nvSpPr>
          <p:cNvPr id="52" name="platform-foundry">
            <a:extLst xmlns:a="http://schemas.openxmlformats.org/drawingml/2006/main">
              <a:ext uri="{FF2B5EF4-FFF2-40B4-BE49-F238E27FC236}">
                <a16:creationId xmlns:a16="http://schemas.microsoft.com/office/drawing/2014/main" id="{33E03159-8F9B-43A6-B7B9-B4DCA954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38375"/>
            <a:ext cx="26670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4FC"/>
          </a:solidFill>
          <a:ln xmlns:a="http://schemas.openxmlformats.org/drawingml/2006/main" w="11906">
            <a:solidFill>
              <a:srgbClr val="62C6EA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3F5F"/>
                </a:solidFill>
                <a:latin typeface="Helvetica Neue"/>
                <a:ea typeface="Helvetica Neue"/>
                <a:cs typeface="Helvetica Neue"/>
              </a:rPr>
              <a:t>Microsoft Foundry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direct model provider</a:t>
            </a:r>
          </a:p>
        </p:txBody>
      </p:sp>
      <p:sp>
        <p:nvSpPr>
          <p:cNvPr id="53" name="platform-model-serving">
            <a:extLst xmlns:a="http://schemas.openxmlformats.org/drawingml/2006/main">
              <a:ext uri="{FF2B5EF4-FFF2-40B4-BE49-F238E27FC236}">
                <a16:creationId xmlns:a16="http://schemas.microsoft.com/office/drawing/2014/main" id="{BACB9137-7F2F-4355-8315-E2BD41E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6670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Databricks Model Serving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registered endpoints</a:t>
            </a:r>
          </a:p>
        </p:txBody>
      </p:sp>
      <p:sp>
        <p:nvSpPr>
          <p:cNvPr id="54" name="platform-data-services">
            <a:extLst xmlns:a="http://schemas.openxmlformats.org/drawingml/2006/main">
              <a:ext uri="{FF2B5EF4-FFF2-40B4-BE49-F238E27FC236}">
                <a16:creationId xmlns:a16="http://schemas.microsoft.com/office/drawing/2014/main" id="{6864FE8E-DD23-473A-9E8A-2F5814C0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05225"/>
            <a:ext cx="26670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63F5F"/>
            </a:solidFill>
            <a:prstDash val="solid"/>
          </a:ln>
        </p:spPr>
        <p:txBody>
          <a:bodyPr xmlns:a="http://schemas.openxmlformats.org/drawingml/2006/main" lIns="66675" tIns="57150" rIns="66675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1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Databricks SQL + Blob</a:t>
            </a:r>
          </a:p>
          <a:p xmlns:a="http://schemas.openxmlformats.org/drawingml/2006/main">
            <a:pPr algn="ctr">
              <a:spcAft>
                <a:spcPts val="0"/>
              </a:spcAft>
              <a:defRPr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governed queries + snapshots</a:t>
            </a:r>
          </a:p>
        </p:txBody>
      </p:sp>
    </p:spTree>
    <p:extLst>
      <p:ext uri="{BB962C8B-B14F-4D97-AF65-F5344CB8AC3E}">
        <p14:creationId xmlns:p14="http://schemas.microsoft.com/office/powerpoint/2010/main" val="325252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2026-09-02T21:15:06.0590000Z</dcterms:created>
  <dcterms:modified xsi:type="dcterms:W3CDTF">2026-09-02T21:15:06.0590000Z</dcterms:modified>
</coreProperties>
</file>